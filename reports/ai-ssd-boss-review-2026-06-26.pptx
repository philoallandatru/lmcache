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1999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Master" Target="slideMasters/slideMaster1.xml"/><Relationship Id="rId12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/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../media/image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../media/image7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../media/image8.png"/></Relationships>
</file>

<file path=ppt/slides/_rels/slide10.xml.rels><?xml version="1.0" encoding="UTF-8" standalone="yes"?><Relationships xmlns="http://schemas.openxmlformats.org/package/2006/relationships"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a:txBody>
          <a:bodyPr/>
          <a:lstStyle/>
          <a:p/>
        </a:txBody>
      </p:sp>
      <p:sp>
        <p:nvSpPr>
          <p:cNvPr id="3" name="TextBox 3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/>
            <a:r>
              <a:rPr lang="zh-CN" sz="2800" dirty="0" b="true">
                <a:solidFill>
                  <a:srgbClr val="edf6ff"/>
                </a:solidFill>
              </a:rPr>
              <a:t>AI SSD × HiCache 选型预研</a:t>
            </a:r>
          </a:p>
        </a:txBody>
      </p:sp>
      <p:sp>
        <p:nvSpPr>
          <p:cNvPr id="4" name="TextBox 4"/>
          <p:cNvSpPr txBox="1"/>
          <p:nvPr/>
        </p:nvSpPr>
        <p:spPr>
          <a:xfrm>
            <a:off x="438912" y="786384"/>
            <a:ext cx="10972800" cy="32004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/>
            <a:r>
              <a:rPr lang="zh-CN" sz="1300" dirty="0" b="false">
                <a:solidFill>
                  <a:srgbClr val="9fb5c8"/>
                </a:solidFill>
              </a:rPr>
              <a:t>给老板版: 结论、实验设计、IO 证据链与采购建议 | 2026-06-26</a:t>
            </a:r>
          </a:p>
        </a:txBody>
      </p:sp>
      <p:sp>
        <p:nvSpPr>
          <p:cNvPr id="5" name="Shape 5"/>
          <p:cNvSpPr/>
          <p:nvPr/>
        </p:nvSpPr>
        <p:spPr>
          <a:xfrm>
            <a:off x="411480" y="1234440"/>
            <a:ext cx="5669280" cy="4389120"/>
          </a:xfrm>
          <a:prstGeom prst="roundRect">
            <a:avLst/>
          </a:prstGeom>
          <a:solidFill>
            <a:srgbClr val="0e1b2d"/>
          </a:solidFill>
          <a:ln w="12700">
            <a:solidFill>
              <a:srgbClr val="27415f"/>
            </a:solidFill>
          </a:ln>
        </p:spPr>
        <a:txBody>
          <a:bodyPr/>
          <a:lstStyle/>
          <a:p/>
        </a:txBody>
      </p:sp>
      <p:sp>
        <p:nvSpPr>
          <p:cNvPr id="6" name="Shape 6"/>
          <p:cNvSpPr/>
          <p:nvPr/>
        </p:nvSpPr>
        <p:spPr>
          <a:xfrm>
            <a:off x="6263640" y="1234440"/>
            <a:ext cx="5212080" cy="4389120"/>
          </a:xfrm>
          <a:prstGeom prst="roundRect">
            <a:avLst/>
          </a:prstGeom>
          <a:solidFill>
            <a:srgbClr val="0e1b2d"/>
          </a:solidFill>
          <a:ln w="12700">
            <a:solidFill>
              <a:srgbClr val="27415f"/>
            </a:solidFill>
          </a:ln>
        </p:spPr>
        <a:txBody>
          <a:bodyPr/>
          <a:lstStyle/>
          <a:p/>
        </a:txBody>
      </p:sp>
      <p:sp>
        <p:nvSpPr>
          <p:cNvPr id="7" name="TextBox 7"/>
          <p:cNvSpPr txBox="1"/>
          <p:nvPr/>
        </p:nvSpPr>
        <p:spPr>
          <a:xfrm>
            <a:off x="594360" y="1417320"/>
            <a:ext cx="5212080" cy="64008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/>
            <a:r>
              <a:rPr lang="zh-CN" sz="3000" dirty="0" b="true">
                <a:solidFill>
                  <a:srgbClr val="7cffb2"/>
                </a:solidFill>
              </a:rPr>
              <a:t>结论先行</a:t>
            </a:r>
          </a:p>
        </a:txBody>
      </p:sp>
      <p:sp>
        <p:nvSpPr>
          <p:cNvPr id="8" name="TextBox 8"/>
          <p:cNvSpPr txBox="1"/>
          <p:nvPr/>
        </p:nvSpPr>
        <p:spPr>
          <a:xfrm>
            <a:off x="621792" y="2057400"/>
            <a:ext cx="5303520" cy="201168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/>
            <a:r>
              <a:rPr lang="zh-CN" sz="2200" dirty="0" b="true">
                <a:solidFill>
                  <a:srgbClr val="edf6ff"/>
                </a:solidFill>
              </a:rPr>
              <a:t>BIWIN 系统盘路径最快</a:t>
            </a:r>
          </a:p>
          <a:p>
            <a:pPr algn="l"/>
            <a:r>
              <a:rPr lang="zh-CN" sz="2200" dirty="0" b="true">
                <a:solidFill>
                  <a:srgbClr val="edf6ff"/>
                </a:solidFill>
              </a:rPr>
              <a:t>ZHITAI 是最佳独立 NTFS 数据盘</a:t>
            </a:r>
          </a:p>
          <a:p>
            <a:pPr algn="l"/>
            <a:r>
              <a:rPr lang="zh-CN" sz="2200" dirty="0" b="true">
                <a:solidFill>
                  <a:srgbClr val="edf6ff"/>
                </a:solidFill>
              </a:rPr>
              <a:t>WDC 稳定居中</a:t>
            </a:r>
          </a:p>
          <a:p>
            <a:pPr algn="l"/>
            <a:r>
              <a:rPr lang="zh-CN" sz="2200" dirty="0" b="true">
                <a:solidFill>
                  <a:srgbClr val="edf6ff"/>
                </a:solidFill>
              </a:rPr>
              <a:t>Seagate 有 bimodal 慢读风险</a:t>
            </a:r>
          </a:p>
        </a:txBody>
      </p:sp>
      <p:sp>
        <p:nvSpPr>
          <p:cNvPr id="9" name="TextBox 9"/>
          <p:cNvSpPr txBox="1"/>
          <p:nvPr/>
        </p:nvSpPr>
        <p:spPr>
          <a:xfrm>
            <a:off x="621792" y="4709160"/>
            <a:ext cx="5303520" cy="82296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/>
            <a:r>
              <a:rPr lang="zh-CN" sz="1800" dirty="0" b="true">
                <a:solidFill>
                  <a:srgbClr val="ffcc66"/>
                </a:solidFill>
              </a:rPr>
              <a:t>核心判断: 选型不能看普通 cold/warm,必须看 Phase7 replay + 多 run tail。</a:t>
            </a:r>
          </a:p>
        </a:txBody>
      </p:sp>
      <p:sp>
        <p:nvSpPr>
          <p:cNvPr id="10" name="TextBox 10"/>
          <p:cNvSpPr txBox="1"/>
          <p:nvPr/>
        </p:nvSpPr>
        <p:spPr>
          <a:xfrm>
            <a:off x="6492240" y="1508760"/>
            <a:ext cx="4480560" cy="246888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/>
            <a:r>
              <a:rPr lang="zh-CN" sz="1800" dirty="0" b="false">
                <a:solidFill>
                  <a:srgbClr val="edf6ff"/>
                </a:solidFill>
              </a:rPr>
              <a:t>数据基础</a:t>
            </a:r>
          </a:p>
          <a:p>
            <a:pPr algn="l"/>
            <a:r>
              <a:rPr lang="zh-CN" sz="1800" dirty="0" b="false">
                <a:solidFill>
                  <a:srgbClr val="edf6ff"/>
                </a:solidFill>
              </a:rPr>
              <a:t>• 7 phases + v3 mount-fixed 重跑</a:t>
            </a:r>
          </a:p>
          <a:p>
            <a:pPr algn="l"/>
            <a:r>
              <a:rPr lang="zh-CN" sz="1800" dirty="0" b="false">
                <a:solidFill>
                  <a:srgbClr val="edf6ff"/>
                </a:solidFill>
              </a:rPr>
              <a:t>• Phase7 G: 6 run × 4 盘 = 24 replay 点</a:t>
            </a:r>
          </a:p>
          <a:p>
            <a:pPr algn="l"/>
            <a:r>
              <a:rPr lang="zh-CN" sz="1800" dirty="0" b="false">
                <a:solidFill>
                  <a:srgbClr val="edf6ff"/>
                </a:solidFill>
              </a:rPr>
              <a:t>• fio 12 个硬件极限点</a:t>
            </a:r>
          </a:p>
          <a:p>
            <a:pPr algn="l"/>
            <a:r>
              <a:rPr lang="zh-CN" sz="1800" dirty="0" b="false">
                <a:solidFill>
                  <a:srgbClr val="edf6ff"/>
                </a:solidFill>
              </a:rPr>
              <a:t>• iostat 1s 粒度 IO 画像</a:t>
            </a:r>
          </a:p>
          <a:p>
            <a:pPr algn="l"/>
            <a:r>
              <a:rPr lang="zh-CN" sz="1800" dirty="0" b="false">
                <a:solidFill>
                  <a:srgbClr val="edf6ff"/>
                </a:solidFill>
              </a:rPr>
              <a:t>• 13 张 profiling 图</a:t>
            </a:r>
          </a:p>
        </a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a:txBody>
          <a:bodyPr/>
          <a:lstStyle/>
          <a:p/>
        </a:txBody>
      </p:sp>
      <p:sp>
        <p:nvSpPr>
          <p:cNvPr id="3" name="TextBox 3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/>
            <a:r>
              <a:rPr lang="zh-CN" sz="2800" dirty="0" b="true">
                <a:solidFill>
                  <a:srgbClr val="edf6ff"/>
                </a:solidFill>
              </a:rPr>
              <a:t>Executive ranking: 6-run mean, not single-run peak</a:t>
            </a:r>
          </a:p>
        </a:txBody>
      </p:sp>
      <p:sp>
        <p:nvSpPr>
          <p:cNvPr id="4" name="TextBox 4"/>
          <p:cNvSpPr txBox="1"/>
          <p:nvPr/>
        </p:nvSpPr>
        <p:spPr>
          <a:xfrm>
            <a:off x="438912" y="786384"/>
            <a:ext cx="10972800" cy="32004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/>
            <a:r>
              <a:rPr lang="zh-CN" sz="1300" dirty="0" b="false">
                <a:solidFill>
                  <a:srgbClr val="9fb5c8"/>
                </a:solidFill>
              </a:rPr>
              <a:t>Selection-grade metric = replay_p0 mean + CV + IO diagnosis.</a:t>
            </a:r>
          </a:p>
        </a:txBody>
      </p:sp>
      <p:pic>
        <p:nvPicPr>
          <p:cNvPr id="5" name="boss_01_ranking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594360" y="1143000"/>
            <a:ext cx="1097280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a:txBody>
          <a:bodyPr/>
          <a:lstStyle/>
          <a:p/>
        </a:txBody>
      </p:sp>
      <p:sp>
        <p:nvSpPr>
          <p:cNvPr id="3" name="TextBox 3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/>
            <a:r>
              <a:rPr lang="zh-CN" sz="2800" dirty="0" b="true">
                <a:solidFill>
                  <a:srgbClr val="edf6ff"/>
                </a:solidFill>
              </a:rPr>
              <a:t>Why the test is credible</a:t>
            </a:r>
          </a:p>
        </a:txBody>
      </p:sp>
      <p:sp>
        <p:nvSpPr>
          <p:cNvPr id="4" name="TextBox 4"/>
          <p:cNvSpPr txBox="1"/>
          <p:nvPr/>
        </p:nvSpPr>
        <p:spPr>
          <a:xfrm>
            <a:off x="438912" y="786384"/>
            <a:ext cx="10972800" cy="32004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/>
            <a:r>
              <a:rPr lang="zh-CN" sz="1300" dirty="0" b="false">
                <a:solidFill>
                  <a:srgbClr val="9fb5c8"/>
                </a:solidFill>
              </a:rPr>
              <a:t>The workflow deliberately separates cache validation, hardware ceiling, and real L3 reload.</a:t>
            </a:r>
          </a:p>
        </a:txBody>
      </p:sp>
      <p:pic>
        <p:nvPicPr>
          <p:cNvPr id="5" name="boss_05_evidence_funnel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594360" y="1143000"/>
            <a:ext cx="1097280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a:txBody>
          <a:bodyPr/>
          <a:lstStyle/>
          <a:p/>
        </a:txBody>
      </p:sp>
      <p:sp>
        <p:nvSpPr>
          <p:cNvPr id="3" name="TextBox 3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/>
            <a:r>
              <a:rPr lang="zh-CN" sz="2800" dirty="0" b="true">
                <a:solidFill>
                  <a:srgbClr val="edf6ff"/>
                </a:solidFill>
              </a:rPr>
              <a:t>What the benchmark really measured</a:t>
            </a:r>
          </a:p>
        </a:txBody>
      </p:sp>
      <p:sp>
        <p:nvSpPr>
          <p:cNvPr id="4" name="TextBox 4"/>
          <p:cNvSpPr txBox="1"/>
          <p:nvPr/>
        </p:nvSpPr>
        <p:spPr>
          <a:xfrm>
            <a:off x="438912" y="786384"/>
            <a:ext cx="10972800" cy="32004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/>
            <a:r>
              <a:rPr lang="zh-CN" sz="1300" dirty="0" b="false">
                <a:solidFill>
                  <a:srgbClr val="9fb5c8"/>
                </a:solidFill>
              </a:rPr>
              <a:t>Normal cold/warm is an L2-hit test; Phase7 replay is the L3 SSD test.</a:t>
            </a:r>
          </a:p>
        </a:txBody>
      </p:sp>
      <p:pic>
        <p:nvPicPr>
          <p:cNvPr id="5" name="boss_07_architecture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594360" y="1143000"/>
            <a:ext cx="1097280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a:txBody>
          <a:bodyPr/>
          <a:lstStyle/>
          <a:p/>
        </a:txBody>
      </p:sp>
      <p:sp>
        <p:nvSpPr>
          <p:cNvPr id="3" name="TextBox 3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/>
            <a:r>
              <a:rPr lang="zh-CN" sz="2800" dirty="0" b="true">
                <a:solidFill>
                  <a:srgbClr val="edf6ff"/>
                </a:solidFill>
              </a:rPr>
              <a:t>Single-run ranking is misleading</a:t>
            </a:r>
          </a:p>
        </a:txBody>
      </p:sp>
      <p:sp>
        <p:nvSpPr>
          <p:cNvPr id="4" name="TextBox 4"/>
          <p:cNvSpPr txBox="1"/>
          <p:nvPr/>
        </p:nvSpPr>
        <p:spPr>
          <a:xfrm>
            <a:off x="438912" y="786384"/>
            <a:ext cx="10972800" cy="32004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/>
            <a:r>
              <a:rPr lang="zh-CN" sz="1300" dirty="0" b="false">
                <a:solidFill>
                  <a:srgbClr val="9fb5c8"/>
                </a:solidFill>
              </a:rPr>
              <a:t>v3 alone made Seagate look fine; 6 runs expose its tail risk.</a:t>
            </a:r>
          </a:p>
        </a:txBody>
      </p:sp>
      <p:pic>
        <p:nvPicPr>
          <p:cNvPr id="5" name="boss_02_single_vs_multi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594360" y="1143000"/>
            <a:ext cx="1097280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a:txBody>
          <a:bodyPr/>
          <a:lstStyle/>
          <a:p/>
        </a:txBody>
      </p:sp>
      <p:sp>
        <p:nvSpPr>
          <p:cNvPr id="3" name="TextBox 3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/>
            <a:r>
              <a:rPr lang="zh-CN" sz="2800" dirty="0" b="true">
                <a:solidFill>
                  <a:srgbClr val="edf6ff"/>
                </a:solidFill>
              </a:rPr>
              <a:t>IO diagnosis: HiCache replay is latency-bound</a:t>
            </a:r>
          </a:p>
        </a:txBody>
      </p:sp>
      <p:sp>
        <p:nvSpPr>
          <p:cNvPr id="4" name="TextBox 4"/>
          <p:cNvSpPr txBox="1"/>
          <p:nvPr/>
        </p:nvSpPr>
        <p:spPr>
          <a:xfrm>
            <a:off x="438912" y="786384"/>
            <a:ext cx="10972800" cy="32004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/>
            <a:r>
              <a:rPr lang="zh-CN" sz="1300" dirty="0" b="false">
                <a:solidFill>
                  <a:srgbClr val="9fb5c8"/>
                </a:solidFill>
              </a:rPr>
              <a:t>Replay is ~60-125KB reads, not a 1MB sequential fio workload.</a:t>
            </a:r>
          </a:p>
        </a:txBody>
      </p:sp>
      <p:pic>
        <p:nvPicPr>
          <p:cNvPr id="5" name="boss_03_io_shape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594360" y="1143000"/>
            <a:ext cx="1097280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a:txBody>
          <a:bodyPr/>
          <a:lstStyle/>
          <a:p/>
        </a:txBody>
      </p:sp>
      <p:sp>
        <p:nvSpPr>
          <p:cNvPr id="3" name="TextBox 3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/>
            <a:r>
              <a:rPr lang="zh-CN" sz="2800" dirty="0" b="true">
                <a:solidFill>
                  <a:srgbClr val="edf6ff"/>
                </a:solidFill>
              </a:rPr>
              <a:t>Disks are not saturated</a:t>
            </a:r>
          </a:p>
        </a:txBody>
      </p:sp>
      <p:sp>
        <p:nvSpPr>
          <p:cNvPr id="4" name="TextBox 4"/>
          <p:cNvSpPr txBox="1"/>
          <p:nvPr/>
        </p:nvSpPr>
        <p:spPr>
          <a:xfrm>
            <a:off x="438912" y="786384"/>
            <a:ext cx="10972800" cy="32004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/>
            <a:r>
              <a:rPr lang="zh-CN" sz="1300" dirty="0" b="false">
                <a:solidFill>
                  <a:srgbClr val="9fb5c8"/>
                </a:solidFill>
              </a:rPr>
              <a:t>Peak bandwidth is not the main bottleneck; p99 await and reader behavior dominate.</a:t>
            </a:r>
          </a:p>
        </a:txBody>
      </p:sp>
      <p:pic>
        <p:nvPicPr>
          <p:cNvPr id="5" name="boss_04_util_tail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594360" y="1143000"/>
            <a:ext cx="1097280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a:txBody>
          <a:bodyPr/>
          <a:lstStyle/>
          <a:p/>
        </a:txBody>
      </p:sp>
      <p:sp>
        <p:nvSpPr>
          <p:cNvPr id="3" name="TextBox 3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/>
            <a:r>
              <a:rPr lang="zh-CN" sz="2800" dirty="0" b="true">
                <a:solidFill>
                  <a:srgbClr val="edf6ff"/>
                </a:solidFill>
              </a:rPr>
              <a:t>Decision matrix</a:t>
            </a:r>
          </a:p>
        </a:txBody>
      </p:sp>
      <p:sp>
        <p:nvSpPr>
          <p:cNvPr id="4" name="TextBox 4"/>
          <p:cNvSpPr txBox="1"/>
          <p:nvPr/>
        </p:nvSpPr>
        <p:spPr>
          <a:xfrm>
            <a:off x="438912" y="786384"/>
            <a:ext cx="10972800" cy="32004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/>
            <a:r>
              <a:rPr lang="zh-CN" sz="1300" dirty="0" b="false">
                <a:solidFill>
                  <a:srgbClr val="9fb5c8"/>
                </a:solidFill>
              </a:rPr>
              <a:t>Recommendation uses observed latency, stability and IO behavior.</a:t>
            </a:r>
          </a:p>
        </a:txBody>
      </p:sp>
      <p:pic>
        <p:nvPicPr>
          <p:cNvPr id="5" name="boss_06_decision_matrix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594360" y="1143000"/>
            <a:ext cx="1097280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a:txBody>
          <a:bodyPr/>
          <a:lstStyle/>
          <a:p/>
        </a:txBody>
      </p:sp>
      <p:sp>
        <p:nvSpPr>
          <p:cNvPr id="3" name="TextBox 3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/>
            <a:r>
              <a:rPr lang="zh-CN" sz="2800" dirty="0" b="true">
                <a:solidFill>
                  <a:srgbClr val="edf6ff"/>
                </a:solidFill>
              </a:rPr>
              <a:t>Scorecard for purchase decision</a:t>
            </a:r>
          </a:p>
        </a:txBody>
      </p:sp>
      <p:sp>
        <p:nvSpPr>
          <p:cNvPr id="4" name="TextBox 4"/>
          <p:cNvSpPr txBox="1"/>
          <p:nvPr/>
        </p:nvSpPr>
        <p:spPr>
          <a:xfrm>
            <a:off x="438912" y="786384"/>
            <a:ext cx="10972800" cy="32004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/>
            <a:r>
              <a:rPr lang="zh-CN" sz="1300" dirty="0" b="false">
                <a:solidFill>
                  <a:srgbClr val="9fb5c8"/>
                </a:solidFill>
              </a:rPr>
              <a:t>Fastest path and best data SSD are different decisions.</a:t>
            </a:r>
          </a:p>
        </a:txBody>
      </p:sp>
      <p:pic>
        <p:nvPicPr>
          <p:cNvPr id="5" name="boss_08_scorecard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594360" y="1143000"/>
            <a:ext cx="1097280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a:txBody>
          <a:bodyPr/>
          <a:lstStyle/>
          <a:p/>
        </a:txBody>
      </p:sp>
      <p:sp>
        <p:nvSpPr>
          <p:cNvPr id="3" name="TextBox 3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/>
            <a:r>
              <a:rPr lang="zh-CN" sz="2800" dirty="0" b="true">
                <a:solidFill>
                  <a:srgbClr val="edf6ff"/>
                </a:solidFill>
              </a:rPr>
              <a:t>Recommended action</a:t>
            </a:r>
          </a:p>
        </a:txBody>
      </p:sp>
      <p:sp>
        <p:nvSpPr>
          <p:cNvPr id="4" name="TextBox 4"/>
          <p:cNvSpPr txBox="1"/>
          <p:nvPr/>
        </p:nvSpPr>
        <p:spPr>
          <a:xfrm>
            <a:off x="438912" y="786384"/>
            <a:ext cx="10972800" cy="32004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/>
            <a:r>
              <a:rPr lang="zh-CN" sz="1300" dirty="0" b="false">
                <a:solidFill>
                  <a:srgbClr val="9fb5c8"/>
                </a:solidFill>
              </a:rPr>
              <a:t>What to buy, what to avoid, what to test next.</a:t>
            </a:r>
          </a:p>
        </a:txBody>
      </p:sp>
      <p:sp>
        <p:nvSpPr>
          <p:cNvPr id="5" name="Shape 5"/>
          <p:cNvSpPr/>
          <p:nvPr/>
        </p:nvSpPr>
        <p:spPr>
          <a:xfrm>
            <a:off x="502920" y="1188720"/>
            <a:ext cx="3566160" cy="4480560"/>
          </a:xfrm>
          <a:prstGeom prst="roundRect">
            <a:avLst/>
          </a:prstGeom>
          <a:solidFill>
            <a:srgbClr val="0e1b2d"/>
          </a:solidFill>
          <a:ln w="12700">
            <a:solidFill>
              <a:srgbClr val="27415f"/>
            </a:solidFill>
          </a:ln>
        </p:spPr>
        <a:txBody>
          <a:bodyPr/>
          <a:lstStyle/>
          <a:p/>
        </a:txBody>
      </p:sp>
      <p:sp>
        <p:nvSpPr>
          <p:cNvPr id="6" name="Shape 6"/>
          <p:cNvSpPr/>
          <p:nvPr/>
        </p:nvSpPr>
        <p:spPr>
          <a:xfrm>
            <a:off x="4315968" y="1188720"/>
            <a:ext cx="3566160" cy="4480560"/>
          </a:xfrm>
          <a:prstGeom prst="roundRect">
            <a:avLst/>
          </a:prstGeom>
          <a:solidFill>
            <a:srgbClr val="0e1b2d"/>
          </a:solidFill>
          <a:ln w="12700">
            <a:solidFill>
              <a:srgbClr val="27415f"/>
            </a:solidFill>
          </a:ln>
        </p:spPr>
        <a:txBody>
          <a:bodyPr/>
          <a:lstStyle/>
          <a:p/>
        </a:txBody>
      </p:sp>
      <p:sp>
        <p:nvSpPr>
          <p:cNvPr id="7" name="Shape 7"/>
          <p:cNvSpPr/>
          <p:nvPr/>
        </p:nvSpPr>
        <p:spPr>
          <a:xfrm>
            <a:off x="8138160" y="1188720"/>
            <a:ext cx="3566160" cy="4480560"/>
          </a:xfrm>
          <a:prstGeom prst="roundRect">
            <a:avLst/>
          </a:prstGeom>
          <a:solidFill>
            <a:srgbClr val="0e1b2d"/>
          </a:solidFill>
          <a:ln w="12700">
            <a:solidFill>
              <a:srgbClr val="27415f"/>
            </a:solidFill>
          </a:ln>
        </p:spPr>
        <a:txBody>
          <a:bodyPr/>
          <a:lstStyle/>
          <a:p/>
        </a:txBody>
      </p:sp>
      <p:sp>
        <p:nvSpPr>
          <p:cNvPr id="8" name="TextBox 8"/>
          <p:cNvSpPr txBox="1"/>
          <p:nvPr/>
        </p:nvSpPr>
        <p:spPr>
          <a:xfrm>
            <a:off x="777240" y="1508760"/>
            <a:ext cx="3017520" cy="36576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ctr"/>
            <a:r>
              <a:rPr lang="zh-CN" sz="2200" dirty="0" b="true">
                <a:solidFill>
                  <a:srgbClr val="7cffb2"/>
                </a:solidFill>
              </a:rPr>
              <a:t>BUY / USE</a:t>
            </a:r>
          </a:p>
        </a:txBody>
      </p:sp>
      <p:sp>
        <p:nvSpPr>
          <p:cNvPr id="9" name="TextBox 9"/>
          <p:cNvSpPr txBox="1"/>
          <p:nvPr/>
        </p:nvSpPr>
        <p:spPr>
          <a:xfrm>
            <a:off x="749808" y="2057400"/>
            <a:ext cx="3063240" cy="237744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/>
            <a:r>
              <a:rPr lang="zh-CN" sz="1800" dirty="0" b="false">
                <a:solidFill>
                  <a:srgbClr val="edf6ff"/>
                </a:solidFill>
              </a:rPr>
              <a:t>1. BIWIN as system/root L3 path when lowest latency matters</a:t>
            </a:r>
          </a:p>
          <a:p>
            <a:pPr algn="l"/>
            <a:r>
              <a:rPr lang="zh-CN" sz="1800" dirty="0" b="false">
                <a:solidFill>
                  <a:srgbClr val="edf6ff"/>
                </a:solidFill>
              </a:rPr>
              <a:t>2. ZHITAI as preferred independent NTFS data SSD</a:t>
            </a:r>
          </a:p>
          <a:p>
            <a:pPr algn="l"/>
            <a:r>
              <a:rPr lang="zh-CN" sz="1800" dirty="0" b="false">
                <a:solidFill>
                  <a:srgbClr val="edf6ff"/>
                </a:solidFill>
              </a:rPr>
              <a:t>3. WDC as stable capacity fallback</a:t>
            </a:r>
          </a:p>
        </a:txBody>
      </p:sp>
      <p:sp>
        <p:nvSpPr>
          <p:cNvPr id="10" name="TextBox 10"/>
          <p:cNvSpPr txBox="1"/>
          <p:nvPr/>
        </p:nvSpPr>
        <p:spPr>
          <a:xfrm>
            <a:off x="4590288" y="1508760"/>
            <a:ext cx="3017520" cy="36576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ctr"/>
            <a:r>
              <a:rPr lang="zh-CN" sz="2200" dirty="0" b="true">
                <a:solidFill>
                  <a:srgbClr val="ff6b7a"/>
                </a:solidFill>
              </a:rPr>
              <a:t>AVOID</a:t>
            </a:r>
          </a:p>
        </a:txBody>
      </p:sp>
      <p:sp>
        <p:nvSpPr>
          <p:cNvPr id="11" name="TextBox 11"/>
          <p:cNvSpPr txBox="1"/>
          <p:nvPr/>
        </p:nvSpPr>
        <p:spPr>
          <a:xfrm>
            <a:off x="4572000" y="2057400"/>
            <a:ext cx="3063240" cy="237744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/>
            <a:r>
              <a:rPr lang="zh-CN" sz="1800" dirty="0" b="false">
                <a:solidFill>
                  <a:srgbClr val="edf6ff"/>
                </a:solidFill>
              </a:rPr>
              <a:t>Do not let Seagate alone carry tail-sensitive hot L3.</a:t>
            </a:r>
          </a:p>
          <a:p>
            <a:pPr algn="l"/>
            <a:r>
              <a:rPr lang="zh-CN" sz="1800" dirty="0" b="false">
                <a:solidFill>
                  <a:srgbClr val="edf6ff"/>
                </a:solidFill>
              </a:rPr>
              <a:t>It had 3 slow runs around 3.4-3.5s out of 6.</a:t>
            </a:r>
          </a:p>
        </a:txBody>
      </p:sp>
      <p:sp>
        <p:nvSpPr>
          <p:cNvPr id="12" name="TextBox 12"/>
          <p:cNvSpPr txBox="1"/>
          <p:nvPr/>
        </p:nvSpPr>
        <p:spPr>
          <a:xfrm>
            <a:off x="8412480" y="1508760"/>
            <a:ext cx="3017520" cy="36576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ctr"/>
            <a:r>
              <a:rPr lang="zh-CN" sz="2200" dirty="0" b="true">
                <a:solidFill>
                  <a:srgbClr val="00d4ff"/>
                </a:solidFill>
              </a:rPr>
              <a:t>NEXT</a:t>
            </a:r>
          </a:p>
        </a:txBody>
      </p:sp>
      <p:sp>
        <p:nvSpPr>
          <p:cNvPr id="13" name="TextBox 13"/>
          <p:cNvSpPr txBox="1"/>
          <p:nvPr/>
        </p:nvSpPr>
        <p:spPr>
          <a:xfrm>
            <a:off x="8394192" y="2057400"/>
            <a:ext cx="3063240" cy="237744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/>
            <a:r>
              <a:rPr lang="zh-CN" sz="1800" dirty="0" b="false">
                <a:solidFill>
                  <a:srgbClr val="edf6ff"/>
                </a:solidFill>
              </a:rPr>
              <a:t>1. Trace Seagate slow reads with blk_mq + smartctl</a:t>
            </a:r>
          </a:p>
          <a:p>
            <a:pPr algn="l"/>
            <a:r>
              <a:rPr lang="zh-CN" sz="1800" dirty="0" b="false">
                <a:solidFill>
                  <a:srgbClr val="edf6ff"/>
                </a:solidFill>
              </a:rPr>
              <a:t>2. Retest ZHITAI with drop_caches between runs</a:t>
            </a:r>
          </a:p>
          <a:p>
            <a:pPr algn="l"/>
            <a:r>
              <a:rPr lang="zh-CN" sz="1800" dirty="0" b="false">
                <a:solidFill>
                  <a:srgbClr val="edf6ff"/>
                </a:solidFill>
              </a:rPr>
              <a:t>3. Test sglang 0.6+ page-size / reader changes</a:t>
            </a:r>
          </a:p>
        </a:txBody>
      </p:sp>
      <p:sp>
        <p:nvSpPr>
          <p:cNvPr id="14" name="TextBox 14"/>
          <p:cNvSpPr txBox="1"/>
          <p:nvPr/>
        </p:nvSpPr>
        <p:spPr>
          <a:xfrm>
            <a:off x="685800" y="5989320"/>
            <a:ext cx="10789920" cy="41148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ctr"/>
            <a:r>
              <a:rPr lang="zh-CN" sz="1600" dirty="0" b="true">
                <a:solidFill>
                  <a:srgbClr val="ffcc66"/>
                </a:solidFill>
              </a:rPr>
              <a:t>Executive takeaway: add host RAM first, then use ZHITAI/WDC for data L3; optimize reader/page-size before overpaying for peak SSD bandwidth.</a:t>
            </a:r>
          </a:p>
        </a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SSD Dark">
  <a:themeElements>
    <a:clrScheme name="dark">
      <a:dk1>
        <a:srgbClr val="07111F"/>
      </a:dk1>
      <a:lt1>
        <a:srgbClr val="EDF6FF"/>
      </a:lt1>
      <a:dk2>
        <a:srgbClr val="0E1B2D"/>
      </a:dk2>
      <a:lt2>
        <a:srgbClr val="9FB5C8"/>
      </a:lt2>
      <a:accent1>
        <a:srgbClr val="00D4FF"/>
      </a:accent1>
      <a:accent2>
        <a:srgbClr val="7CFFB2"/>
      </a:accent2>
      <a:accent3>
        <a:srgbClr val="FFCC66"/>
      </a:accent3>
      <a:accent4>
        <a:srgbClr val="FF6B7A"/>
      </a:accent4>
      <a:accent5>
        <a:srgbClr val="27415F"/>
      </a:accent5>
      <a:accent6>
        <a:srgbClr val="12304B"/>
      </a:accent6>
      <a:hlink>
        <a:srgbClr val="00D4FF"/>
      </a:hlink>
      <a:folHlink>
        <a:srgbClr val="7CFFB2"/>
      </a:folHlink>
    </a:clrScheme>
    <a:fontScheme name="Office">
      <a:majorFont>
        <a:latin typeface="Aptos Display"/>
      </a:majorFont>
      <a:minorFont>
        <a:latin typeface="Aptos"/>
      </a:minorFont>
    </a:fontScheme>
    <a:fmtScheme name="Office">
      <a:fillStyleLst/>
      <a:lnStyleLst/>
      <a:effectStyleLst/>
      <a:bgFillStyleLst/>
    </a:fmtScheme>
  </a:themeElements>
</a:theme>
</file>